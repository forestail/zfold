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 w="12700">
            <a:solidFill>
              <a:srgbClr val="F6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40480" y="685800"/>
            <a:ext cx="7955279" cy="54864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FF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548640"/>
            <a:ext cx="1828800" cy="1828800"/>
          </a:xfrm>
          <a:prstGeom prst="ellipse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1371600"/>
            <a:ext cx="960120" cy="960120"/>
          </a:xfrm>
          <a:prstGeom prst="ellipse">
            <a:avLst/>
          </a:prstGeom>
          <a:solidFill>
            <a:srgbClr val="D8F0EA"/>
          </a:solidFill>
          <a:ln w="12700">
            <a:solidFill>
              <a:srgbClr val="D8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914400"/>
            <a:ext cx="301752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D8F0EA"/>
                </a:solidFill>
                <a:latin typeface="Bahnschrift"/>
              </a:rPr>
              <a:t>GUIDE DECK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325880"/>
            <a:ext cx="3108960" cy="1417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 UI"/>
              </a:rPr>
              <a:t>zfold
入門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" y="2834640"/>
            <a:ext cx="2971800" cy="10972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0">
                <a:solidFill>
                  <a:srgbClr val="D8F0EA"/>
                </a:solidFill>
                <a:latin typeface="Yu Gothic UI"/>
              </a:rPr>
              <a:t>ZIP と何が違うのか
辞書はいつ効くのか
どんな場面で使い分けるのか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51560"/>
            <a:ext cx="1645920" cy="329184"/>
          </a:xfrm>
          <a:prstGeom prst="roundRect">
            <a:avLst/>
          </a:prstGeom>
          <a:solidFill>
            <a:srgbClr val="DDEAF5"/>
          </a:solidFill>
          <a:ln w="12700">
            <a:solidFill>
              <a:srgbClr val="DD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064260"/>
            <a:ext cx="1645920" cy="329184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9486A"/>
                </a:solidFill>
                <a:latin typeface="Yu Gothic UI"/>
              </a:rPr>
              <a:t>.zpk archive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6675120" cy="53035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500" b="1">
                <a:solidFill>
                  <a:srgbClr val="1F2937"/>
                </a:solidFill>
                <a:latin typeface="Yu Gothic UI"/>
              </a:rPr>
              <a:t>似た小ファイル群を、
きれいに小さくまとめるためのアーカイバ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743200"/>
            <a:ext cx="6583680" cy="7498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0">
                <a:solidFill>
                  <a:srgbClr val="5B6472"/>
                </a:solidFill>
                <a:latin typeface="Yu Gothic UI"/>
              </a:rPr>
              <a:t>solid archive 的な圧縮と zstd、さらに辞書圧縮を組み合わせて、
Web 配布物、設定ファイル群、スナップショットの保存に向く設計です。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160520"/>
            <a:ext cx="2148840" cy="12801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4160520"/>
            <a:ext cx="91440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4297680"/>
            <a:ext cx="178308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強い場面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4568" y="4672584"/>
            <a:ext cx="1801368" cy="18288"/>
          </a:xfrm>
          <a:prstGeom prst="rect">
            <a:avLst/>
          </a:prstGeom>
          <a:solidFill>
            <a:srgbClr val="D8F0EA"/>
          </a:solidFill>
          <a:ln w="12700">
            <a:solidFill>
              <a:srgbClr val="D8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4818888"/>
            <a:ext cx="1837944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類似した小ファイルが多い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圧縮率を重視したい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48272" y="4160520"/>
            <a:ext cx="2148840" cy="12801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48272" y="4160520"/>
            <a:ext cx="91440" cy="1280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4297680"/>
            <a:ext cx="178308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注意点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49440" y="4672584"/>
            <a:ext cx="1801368" cy="18288"/>
          </a:xfrm>
          <a:prstGeom prst="rect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818888"/>
            <a:ext cx="1837944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一部展開はチャンク単位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設定次第でメモリを使う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160520"/>
            <a:ext cx="2148840" cy="12801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4160520"/>
            <a:ext cx="91440" cy="1280160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4297680"/>
            <a:ext cx="178308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辞書対応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45168" y="4672584"/>
            <a:ext cx="1801368" cy="18288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8" y="4818888"/>
            <a:ext cx="1837944" cy="502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小さい類似データに効く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辞書もアーカイブへ同梱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3891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Yu Gothic UI"/>
              </a:rPr>
              <a:t>WHERE IT SHINES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Yu Gothic UI"/>
              </a:rPr>
              <a:t>zfold が向く場面 / 向かない場面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Yu Gothic UI"/>
              </a:rPr>
              <a:t>ZIP の置き換えというより、似たファイル群を効率よく固める用途に向きます。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3493008" cy="18288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91440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312724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向く 1: 小さいファイルが大量にある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2203704"/>
            <a:ext cx="3145536" cy="18288"/>
          </a:xfrm>
          <a:prstGeom prst="rect">
            <a:avLst/>
          </a:prstGeom>
          <a:solidFill>
            <a:srgbClr val="D8F0EA"/>
          </a:solidFill>
          <a:ln w="12700">
            <a:solidFill>
              <a:srgbClr val="D8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350008"/>
            <a:ext cx="3182112" cy="1051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HTML / JSON / 設定ファイルが何百〜何万個もある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1 つずつ圧縮するより、まとめたほうが有利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691640"/>
            <a:ext cx="3493008" cy="18288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691640"/>
            <a:ext cx="91440" cy="1828800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312724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向く 2: ファイル同士がよく似ている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53712" y="2203704"/>
            <a:ext cx="3145536" cy="18288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350008"/>
            <a:ext cx="3182112" cy="1051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テンプレート由来の差分ファイル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同じキー構造の JSON や設定群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691640"/>
            <a:ext cx="3493008" cy="18288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691640"/>
            <a:ext cx="91440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1828800"/>
            <a:ext cx="3127248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向く 3: 定期スナップショット保存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66176" y="2203704"/>
            <a:ext cx="3145536" cy="18288"/>
          </a:xfrm>
          <a:prstGeom prst="rect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350008"/>
            <a:ext cx="3182112" cy="1051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pack / list / verify / extract の流れが作りやすい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必要なら暗号化もできる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886200"/>
            <a:ext cx="6629400" cy="15544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96512"/>
            <a:ext cx="621792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ひとことで言うと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434840"/>
            <a:ext cx="6126480" cy="59436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000" b="1">
                <a:solidFill>
                  <a:srgbClr val="19486A"/>
                </a:solidFill>
                <a:latin typeface="Yu Gothic UI"/>
              </a:rPr>
              <a:t>「汎用交換フォーマット」よりも、
「似た小ファイル群を効率よく固めるための専用寄りツール」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3886200"/>
            <a:ext cx="4041648" cy="1554480"/>
          </a:xfrm>
          <a:prstGeom prst="roundRect">
            <a:avLst/>
          </a:prstGeom>
          <a:solidFill>
            <a:srgbClr val="FDE7D9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79" y="4096512"/>
            <a:ext cx="356616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Yu Gothic UI"/>
              </a:rPr>
              <a:t>向きにくい例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9248" y="4407408"/>
            <a:ext cx="3566160" cy="6583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JPEG / PNG / MP4 が中心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ZIP や gz など、すでに圧縮済み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共通性の少ない大きなバイナリ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3891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Yu Gothic UI"/>
              </a:rPr>
              <a:t>COMPRESSION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Yu Gothic UI"/>
              </a:rPr>
              <a:t>ZIP と zfold の圧縮の違い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Yu Gothic UI"/>
              </a:rPr>
              <a:t>zfold は複数ファイルをチャンクにまとめてから圧縮するため、ファイル間の類似も拾えます。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03520" cy="44805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91440" cy="4480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63040"/>
            <a:ext cx="49377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ZIP: ファイルごとに個別圧縮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837944"/>
            <a:ext cx="4956048" cy="18288"/>
          </a:xfrm>
          <a:prstGeom prst="rect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1984248"/>
            <a:ext cx="4992624" cy="3703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取り出しやすい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汎用性が高い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ファイルをまたぐ共通パターンは活かしにくい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303520" cy="44805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1325880"/>
            <a:ext cx="91440" cy="4480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6248" y="1463040"/>
            <a:ext cx="49377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zfold: 複数ファイルをチャンク単位で圧縮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6248" y="1837944"/>
            <a:ext cx="4956048" cy="18288"/>
          </a:xfrm>
          <a:prstGeom prst="rect">
            <a:avLst/>
          </a:prstGeom>
          <a:solidFill>
            <a:srgbClr val="D8F0EA"/>
          </a:solidFill>
          <a:ln w="12700">
            <a:solidFill>
              <a:srgbClr val="D8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1984248"/>
            <a:ext cx="4992624" cy="3703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小さい類似ファイル群で圧縮率が上がりやすい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同じテンプレートやキー構造を拾いやすい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一部展開時はチャンク全体を読む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1600200"/>
            <a:ext cx="1188720" cy="5303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1691640"/>
            <a:ext cx="10058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a.html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" y="1746504"/>
            <a:ext cx="1188720" cy="5303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1837944"/>
            <a:ext cx="10058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b.html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" y="1892808"/>
            <a:ext cx="1188720" cy="5303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1984248"/>
            <a:ext cx="10058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c.json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2331720"/>
            <a:ext cx="59436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971800" y="1965960"/>
            <a:ext cx="1097280" cy="749808"/>
          </a:xfrm>
          <a:prstGeom prst="roundRect">
            <a:avLst/>
          </a:prstGeom>
          <a:solidFill>
            <a:srgbClr val="FCE7C2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44952" y="2176272"/>
            <a:ext cx="9601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Yu Gothic UI"/>
              </a:rPr>
              <a:t>別々に圧縮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114800" y="2331720"/>
            <a:ext cx="685800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846320" y="1965960"/>
            <a:ext cx="713232" cy="749808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6048" y="2167128"/>
            <a:ext cx="4572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ZIP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1600200"/>
            <a:ext cx="1188720" cy="5303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1691640"/>
            <a:ext cx="10058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a.html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55664" y="1746504"/>
            <a:ext cx="1188720" cy="5303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28816" y="1837944"/>
            <a:ext cx="10058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b.html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01968" y="1892808"/>
            <a:ext cx="1188720" cy="53035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1984248"/>
            <a:ext cx="100584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Yu Gothic UI"/>
              </a:rPr>
              <a:t>c.json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955279" y="2331720"/>
            <a:ext cx="594361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595360" y="1874519"/>
            <a:ext cx="1234440" cy="932688"/>
          </a:xfrm>
          <a:prstGeom prst="roundRect">
            <a:avLst/>
          </a:prstGeom>
          <a:solidFill>
            <a:srgbClr val="D8F0E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14232" y="1993392"/>
            <a:ext cx="9601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Yu Gothic UI"/>
              </a:rPr>
              <a:t>chunk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68512" y="2240280"/>
            <a:ext cx="1042415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200" b="0">
                <a:solidFill>
                  <a:srgbClr val="5B6472"/>
                </a:solidFill>
                <a:latin typeface="Yu Gothic UI"/>
              </a:rPr>
              <a:t>まとめて圧縮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875520" y="2331720"/>
            <a:ext cx="594360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0515600" y="1965960"/>
            <a:ext cx="713232" cy="749808"/>
          </a:xfrm>
          <a:prstGeom prst="round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88752" y="2167128"/>
            <a:ext cx="566928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 UI"/>
              </a:rPr>
              <a:t>.zpk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03320" y="5212080"/>
            <a:ext cx="4754880" cy="347472"/>
          </a:xfrm>
          <a:prstGeom prst="roundRect">
            <a:avLst/>
          </a:prstGeom>
          <a:solidFill>
            <a:srgbClr val="DDEAF5"/>
          </a:solidFill>
          <a:ln w="12700">
            <a:solidFill>
              <a:srgbClr val="DD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703320" y="5224780"/>
            <a:ext cx="4754880" cy="347472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19486A"/>
                </a:solidFill>
                <a:latin typeface="Yu Gothic UI"/>
              </a:rPr>
              <a:t>差が出るのは「似た小ファイルが大量にある」ケース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3891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Yu Gothic UI"/>
              </a:rPr>
              <a:t>GOOD FIT / BAD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Yu Gothic UI"/>
              </a:rPr>
              <a:t>圧縮率が良くなりやすいデータ、そうでもないデータ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Yu Gothic UI"/>
              </a:rPr>
              <a:t>差が大きいのは「小さい」「似ている」「テキスト系」の条件が揃うときです。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74720" cy="35661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91440" cy="35661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20240"/>
            <a:ext cx="31089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得意なデータ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295144"/>
            <a:ext cx="3127248" cy="18288"/>
          </a:xfrm>
          <a:prstGeom prst="rect">
            <a:avLst/>
          </a:prstGeom>
          <a:solidFill>
            <a:srgbClr val="D8F0EA"/>
          </a:solidFill>
          <a:ln w="12700">
            <a:solidFill>
              <a:srgbClr val="D8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441448"/>
            <a:ext cx="3163824" cy="2788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HTML / CSS / JS / TS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JSON / XML / CSV / ログ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INI / TOML / YAML などの設定群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テンプレートから生成された類似ファイル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474720" cy="35661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1783080"/>
            <a:ext cx="91440" cy="35661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920240"/>
            <a:ext cx="31089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苦手なデータ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2295144"/>
            <a:ext cx="3127248" cy="18288"/>
          </a:xfrm>
          <a:prstGeom prst="rect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441448"/>
            <a:ext cx="3163824" cy="27889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JPEG / PNG / MP4 / MP3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ZIP / gz などの圧縮済みファイル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内容がバラバラな巨大バイナリ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共通パターンが少ないデータ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1965960"/>
            <a:ext cx="2651760" cy="914400"/>
          </a:xfrm>
          <a:prstGeom prst="roundRect">
            <a:avLst/>
          </a:prstGeom>
          <a:solidFill>
            <a:srgbClr val="DDEAF5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2139696"/>
            <a:ext cx="22860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19486A"/>
                </a:solidFill>
                <a:latin typeface="Yu Gothic UI"/>
              </a:rPr>
              <a:t>キーワード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2395728"/>
            <a:ext cx="2395728" cy="2743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Yu Gothic UI"/>
              </a:rPr>
              <a:t>小さい × 似ている × 繰り返しが多い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246120"/>
            <a:ext cx="2212848" cy="126187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1184" y="3419856"/>
            <a:ext cx="182880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Yu Gothic UI"/>
              </a:rPr>
              <a:t>圧縮率のイメージ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83480" y="3794760"/>
            <a:ext cx="402336" cy="411480"/>
          </a:xfrm>
          <a:prstGeom prst="roundRect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40680" y="3794760"/>
            <a:ext cx="1115568" cy="411480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2" y="4315968"/>
            <a:ext cx="1828800" cy="16459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0F766E"/>
                </a:solidFill>
                <a:latin typeface="Yu Gothic UI"/>
              </a:rPr>
              <a:t>ZIP より有利になりやすい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3891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Yu Gothic UI"/>
              </a:rPr>
              <a:t>CHUNK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Yu Gothic UI"/>
              </a:rPr>
              <a:t>チャンクサイズの考え方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Yu Gothic UI"/>
              </a:rPr>
              <a:t>圧縮率とメモリと部分展開のしやすさのバランスを見る設定です。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920240"/>
            <a:ext cx="10424160" cy="146304"/>
          </a:xfrm>
          <a:prstGeom prst="rect">
            <a:avLst/>
          </a:prstGeom>
          <a:solidFill>
            <a:srgbClr val="D8D0C2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1810512"/>
            <a:ext cx="27432" cy="384048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86200" y="1810512"/>
            <a:ext cx="27432" cy="384048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92240" y="1810512"/>
            <a:ext cx="27432" cy="384048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098280" y="1810512"/>
            <a:ext cx="27432" cy="384048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13248" y="1636776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2121408"/>
            <a:ext cx="73152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200" b="1">
                <a:solidFill>
                  <a:srgbClr val="D97706"/>
                </a:solidFill>
                <a:latin typeface="Yu Gothic UI"/>
              </a:rPr>
              <a:t>既定値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249424"/>
            <a:ext cx="219456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Yu Gothic UI"/>
              </a:rPr>
              <a:t>小さい chunk-size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249424"/>
            <a:ext cx="2011680" cy="29260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500" b="1">
                <a:solidFill>
                  <a:srgbClr val="D97706"/>
                </a:solidFill>
                <a:latin typeface="Yu Gothic UI"/>
              </a:rPr>
              <a:t>大きい chunk-size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88920"/>
            <a:ext cx="3474720" cy="2148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788920"/>
            <a:ext cx="91440" cy="2148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2926080"/>
            <a:ext cx="31089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小さめにすると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00984"/>
            <a:ext cx="3127248" cy="18288"/>
          </a:xfrm>
          <a:prstGeom prst="rect">
            <a:avLst/>
          </a:prstGeom>
          <a:solidFill>
            <a:srgbClr val="D8F0EA"/>
          </a:solidFill>
          <a:ln w="12700">
            <a:solidFill>
              <a:srgbClr val="D8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447288"/>
            <a:ext cx="3163824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メモリを抑えやすい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一部展開の無駄が減りやすい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圧縮率は少し下がることがある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2788920"/>
            <a:ext cx="3474720" cy="2148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0832" y="2788920"/>
            <a:ext cx="91440" cy="2148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926080"/>
            <a:ext cx="31089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大きめにすると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0" y="3300984"/>
            <a:ext cx="3127248" cy="18288"/>
          </a:xfrm>
          <a:prstGeom prst="rect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447288"/>
            <a:ext cx="3163824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圧縮率が少し良くなることがある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圧縮時メモリが増える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部分展開では読む量が増えやすい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2788920"/>
            <a:ext cx="3429000" cy="2148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10144" y="2788920"/>
            <a:ext cx="91440" cy="2148840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2" y="292608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低メモリ環境の目安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11312" y="3300984"/>
            <a:ext cx="3081528" cy="18288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11312" y="3447288"/>
            <a:ext cx="3118104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まず既定値を試す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厳しければ --threads 1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さらに --chunk-size を小さくする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80360" y="5486400"/>
            <a:ext cx="6492240" cy="5486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63240" y="5650992"/>
            <a:ext cx="6126480" cy="22860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Yu Gothic UI"/>
              </a:rPr>
              <a:t>例: zfold pack ./dataset -o dataset.zpk --threads 1 --chunk-size 8388608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3891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Yu Gothic UI"/>
              </a:rPr>
              <a:t>DICTIONARY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Yu Gothic UI"/>
              </a:rPr>
              <a:t>辞書ファイルとは何か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Yu Gothic UI"/>
              </a:rPr>
              <a:t>zstd の辞書圧縮を使うと、小さい類似ファイル群でさらに効くことがあります。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103120" cy="12344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1901952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Yu Gothic UI"/>
              </a:rPr>
              <a:t>学習用サンプル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77440"/>
            <a:ext cx="1901952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Yu Gothic UI"/>
              </a:rPr>
              <a:t>似た HTML / JSON / 設定ファイル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828800"/>
            <a:ext cx="1828800" cy="1234440"/>
          </a:xfrm>
          <a:prstGeom prst="roundRect">
            <a:avLst/>
          </a:prstGeom>
          <a:solidFill>
            <a:srgbClr val="FCE7C2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64408" y="1984248"/>
            <a:ext cx="1627632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Yu Gothic UI"/>
              </a:rPr>
              <a:t>train-dict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377440"/>
            <a:ext cx="1627632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Yu Gothic UI"/>
              </a:rPr>
              <a:t>共通パターンを抽出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828800"/>
            <a:ext cx="2011680" cy="1234440"/>
          </a:xfrm>
          <a:prstGeom prst="roundRect">
            <a:avLst/>
          </a:prstGeom>
          <a:solidFill>
            <a:srgbClr val="DDEAF5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4688" y="1984248"/>
            <a:ext cx="1810512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Yu Gothic UI"/>
              </a:rPr>
              <a:t>辞書ファイル app.dict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2377440"/>
            <a:ext cx="1810512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Yu Gothic UI"/>
              </a:rPr>
              <a:t>圧縮のヒント集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28800"/>
            <a:ext cx="2194560" cy="1234440"/>
          </a:xfrm>
          <a:prstGeom prst="roundRect">
            <a:avLst/>
          </a:prstGeom>
          <a:solidFill>
            <a:srgbClr val="D8F0E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1984248"/>
            <a:ext cx="1993392" cy="256032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Yu Gothic UI"/>
              </a:rPr>
              <a:t>pack --dict で圧縮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377440"/>
            <a:ext cx="1993392" cy="38404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300" b="0">
                <a:solidFill>
                  <a:srgbClr val="5B6472"/>
                </a:solidFill>
                <a:latin typeface="Yu Gothic UI"/>
              </a:rPr>
              <a:t>辞書もアーカイブに埋め込まれる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834640" y="2441448"/>
            <a:ext cx="292608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047488" y="2441448"/>
            <a:ext cx="320040" cy="0"/>
          </a:xfrm>
          <a:prstGeom prst="line">
            <a:avLst/>
          </a:prstGeom>
          <a:ln w="25400">
            <a:solidFill>
              <a:srgbClr val="194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16368" y="2441448"/>
            <a:ext cx="310896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3232" y="3794760"/>
            <a:ext cx="3566160" cy="16459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3794760"/>
            <a:ext cx="91440" cy="1645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32004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辞書のメリット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306824"/>
            <a:ext cx="3218688" cy="18288"/>
          </a:xfrm>
          <a:prstGeom prst="rect">
            <a:avLst/>
          </a:prstGeom>
          <a:solidFill>
            <a:srgbClr val="D8F0EA"/>
          </a:solidFill>
          <a:ln w="12700">
            <a:solidFill>
              <a:srgbClr val="D8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53128"/>
            <a:ext cx="3255264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小さい類似ファイルで効きやすい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同じ種類のデータを何度も固める運用に向く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3794760"/>
            <a:ext cx="3566160" cy="16459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53128" y="3794760"/>
            <a:ext cx="91440" cy="1645920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4296" y="3931920"/>
            <a:ext cx="32004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効きやすい例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54296" y="4306824"/>
            <a:ext cx="3218688" cy="18288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54296" y="4453128"/>
            <a:ext cx="3255264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HTML テンプレート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共通キー構造の JSON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INI / TOML / YAML / ログ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3794760"/>
            <a:ext cx="3291840" cy="164592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3024" y="3794760"/>
            <a:ext cx="91440" cy="1645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931920"/>
            <a:ext cx="292608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効きにくい例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94192" y="4306824"/>
            <a:ext cx="2944368" cy="18288"/>
          </a:xfrm>
          <a:prstGeom prst="rect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4453128"/>
            <a:ext cx="2980944" cy="8686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JPEG / PNG / MP4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ZIP など圧縮済みデータ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共通性の少ないバイナリ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3891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Yu Gothic UI"/>
              </a:rPr>
              <a:t>WHEN DICTIONARY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Yu Gothic UI"/>
              </a:rPr>
              <a:t>辞書の効果が出る場面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Yu Gothic UI"/>
              </a:rPr>
              <a:t>辞書は万能ではありません。サンプル選びが重要です。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83080"/>
            <a:ext cx="3429000" cy="33832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783080"/>
            <a:ext cx="91440" cy="3383280"/>
          </a:xfrm>
          <a:prstGeom prst="rect">
            <a:avLst/>
          </a:prstGeom>
          <a:solidFill>
            <a:srgbClr val="3F7D58"/>
          </a:solidFill>
          <a:ln w="12700">
            <a:solidFill>
              <a:srgbClr val="3F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効果が出やすい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95144"/>
            <a:ext cx="3081528" cy="18288"/>
          </a:xfrm>
          <a:prstGeom prst="rect">
            <a:avLst/>
          </a:prstGeom>
          <a:solidFill>
            <a:srgbClr val="DCEFD9"/>
          </a:solidFill>
          <a:ln w="12700">
            <a:solidFill>
              <a:srgbClr val="DCE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41448"/>
            <a:ext cx="3118104" cy="2606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数 KB の JSON が大量にある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静的生成した HTML が大量にある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設定やログに共通の見出しやキーがある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毎回同じ種類のデータをアーカイブ化する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783080"/>
            <a:ext cx="3429000" cy="33832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783080"/>
            <a:ext cx="91440" cy="33832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06324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効果が小さくなりやすい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295144"/>
            <a:ext cx="3081528" cy="18288"/>
          </a:xfrm>
          <a:prstGeom prst="rect">
            <a:avLst/>
          </a:prstGeom>
          <a:solidFill>
            <a:srgbClr val="FDE7D9"/>
          </a:solidFill>
          <a:ln w="12700">
            <a:solidFill>
              <a:srgbClr val="FDE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441448"/>
            <a:ext cx="3118104" cy="2606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画像や動画が中心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ZIP や gz のような圧縮済みデータ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サンプルと実データの種類がズレている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共通パターンの少ないバイナリ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8848" y="1920240"/>
            <a:ext cx="2606040" cy="86868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139696"/>
            <a:ext cx="23317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1F2937"/>
                </a:solidFill>
                <a:latin typeface="Yu Gothic UI"/>
              </a:rPr>
              <a:t>良い辞書の条件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404872"/>
            <a:ext cx="242316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300" b="1">
                <a:solidFill>
                  <a:srgbClr val="19486A"/>
                </a:solidFill>
                <a:latin typeface="Yu Gothic UI"/>
              </a:rPr>
              <a:t>これから圧縮したいデータに
よく似たサンプルで作ること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8848" y="3063240"/>
            <a:ext cx="2606040" cy="1335024"/>
          </a:xfrm>
          <a:prstGeom prst="roundRect">
            <a:avLst/>
          </a:prstGeom>
          <a:solidFill>
            <a:srgbClr val="DDEAF5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3255264"/>
            <a:ext cx="2331720" cy="1828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700" b="1">
                <a:solidFill>
                  <a:srgbClr val="19486A"/>
                </a:solidFill>
                <a:latin typeface="Yu Gothic UI"/>
              </a:rPr>
              <a:t>運用上の利点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3547872"/>
            <a:ext cx="2286000" cy="6400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>
                <a:solidFill>
                  <a:srgbClr val="5B6472"/>
                </a:solidFill>
                <a:latin typeface="Yu Gothic UI"/>
              </a:rPr>
              <a:t>• 辞書はアーカイブにも埋め込まれる</a:t>
            </a:r>
          </a:p>
          <a:p>
            <a:pPr algn="l">
              <a:spcAft>
                <a:spcPts val="700"/>
              </a:spcAft>
            </a:pPr>
            <a:r>
              <a:rPr sz="1300">
                <a:solidFill>
                  <a:srgbClr val="5B6472"/>
                </a:solidFill>
                <a:latin typeface="Yu Gothic UI"/>
              </a:rPr>
              <a:t>• 展開時に別配布しなくてよい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9144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438912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Yu Gothic UI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5156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1F2937"/>
                </a:solidFill>
                <a:latin typeface="Yu Gothic UI"/>
              </a:rPr>
              <a:t>基本コマンドの流れ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10241280" cy="5029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400" b="0">
                <a:solidFill>
                  <a:srgbClr val="5B6472"/>
                </a:solidFill>
                <a:latin typeface="Yu Gothic UI"/>
              </a:rPr>
              <a:t>辞書なしでも始められます。効果を見てから辞書を足すのが現実的です。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103120" cy="2194560"/>
          </a:xfrm>
          <a:prstGeom prst="roundRect">
            <a:avLst/>
          </a:prstGeom>
          <a:solidFill>
            <a:srgbClr val="DDEAF5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29968"/>
            <a:ext cx="1883664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Yu Gothic UI"/>
              </a:rPr>
              <a:t>1. 任意で辞書を作る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70048"/>
            <a:ext cx="1865376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onsolas"/>
              </a:rPr>
              <a:t>zfold train-dict ./snap1 ./snap2 -o app.dict --mode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874519"/>
            <a:ext cx="2103120" cy="2194560"/>
          </a:xfrm>
          <a:prstGeom prst="roundRect">
            <a:avLst/>
          </a:prstGeom>
          <a:solidFill>
            <a:srgbClr val="D8F0EA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2029968"/>
            <a:ext cx="1883664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Yu Gothic UI"/>
              </a:rPr>
              <a:t>2. pack で固める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670048"/>
            <a:ext cx="1865376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onsolas"/>
              </a:rPr>
              <a:t>zfold pack ./project -o project.zpk --dict app.dict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74519"/>
            <a:ext cx="2103120" cy="219456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2029968"/>
            <a:ext cx="1883664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Yu Gothic UI"/>
              </a:rPr>
              <a:t>3. verify / list で確認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670048"/>
            <a:ext cx="1865376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onsolas"/>
              </a:rPr>
              <a:t>zfold verify project.zpk
zfold list project.zpk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874519"/>
            <a:ext cx="2103120" cy="2194560"/>
          </a:xfrm>
          <a:prstGeom prst="roundRect">
            <a:avLst/>
          </a:prstGeom>
          <a:solidFill>
            <a:srgbClr val="FCE7C2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82328" y="2029968"/>
            <a:ext cx="1883664" cy="4114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600" b="1">
                <a:solidFill>
                  <a:srgbClr val="1F2937"/>
                </a:solidFill>
                <a:latin typeface="Yu Gothic UI"/>
              </a:rPr>
              <a:t>4. extract で取り出す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2670048"/>
            <a:ext cx="1865376" cy="10058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0">
                <a:solidFill>
                  <a:srgbClr val="5B6472"/>
                </a:solidFill>
                <a:latin typeface="Consolas"/>
              </a:rPr>
              <a:t>zfold extract project.zpk -d ./out --prefix "docs/"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07792" y="2944368"/>
            <a:ext cx="658368" cy="0"/>
          </a:xfrm>
          <a:prstGeom prst="line">
            <a:avLst/>
          </a:prstGeom>
          <a:ln w="25400">
            <a:solidFill>
              <a:srgbClr val="1948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788152" y="2944368"/>
            <a:ext cx="658368" cy="0"/>
          </a:xfrm>
          <a:prstGeom prst="line">
            <a:avLst/>
          </a:prstGeom>
          <a:ln w="254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668512" y="2944368"/>
            <a:ext cx="658368" cy="0"/>
          </a:xfrm>
          <a:prstGeom prst="line">
            <a:avLst/>
          </a:prstGeom>
          <a:ln w="254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4663440"/>
            <a:ext cx="5440680" cy="11430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28032"/>
            <a:ext cx="507492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Yu Gothic UI"/>
              </a:rPr>
              <a:t>暗号化したいとき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102352"/>
            <a:ext cx="5074920" cy="51206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5B6472"/>
                </a:solidFill>
                <a:latin typeface="Yu Gothic UI"/>
              </a:rPr>
              <a:t>• --password-prompt か --password-file が扱いやすい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5B6472"/>
                </a:solidFill>
                <a:latin typeface="Yu Gothic UI"/>
              </a:rPr>
              <a:t>• チャンク、辞書、index が暗号化される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4663440"/>
            <a:ext cx="5074920" cy="114300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828032"/>
            <a:ext cx="470916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700" b="1">
                <a:solidFill>
                  <a:srgbClr val="1F2937"/>
                </a:solidFill>
                <a:latin typeface="Yu Gothic UI"/>
              </a:rPr>
              <a:t>運用で押さえる点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5102352"/>
            <a:ext cx="4709160" cy="512064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>
                <a:solidFill>
                  <a:srgbClr val="5B6472"/>
                </a:solidFill>
                <a:latin typeface="Yu Gothic UI"/>
              </a:rPr>
              <a:t>• バックアップ用途では pack 後に verify を回す</a:t>
            </a:r>
          </a:p>
          <a:p>
            <a:pPr algn="l">
              <a:spcAft>
                <a:spcPts val="700"/>
              </a:spcAft>
            </a:pPr>
            <a:r>
              <a:rPr sz="1400">
                <a:solidFill>
                  <a:srgbClr val="5B6472"/>
                </a:solidFill>
                <a:latin typeface="Yu Gothic UI"/>
              </a:rPr>
              <a:t>• 辞書はアーカイブに埋め込まれるので別配布不要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640080"/>
            <a:ext cx="1645920" cy="16459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280160"/>
            <a:ext cx="822960" cy="8229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822960"/>
            <a:ext cx="411480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200" b="1">
                <a:solidFill>
                  <a:srgbClr val="D8F0EA"/>
                </a:solidFill>
                <a:latin typeface="Bahnschrift"/>
              </a:rPr>
              <a:t>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07008"/>
            <a:ext cx="4572000" cy="64008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 UI"/>
              </a:rPr>
              <a:t>zfold を使う判断基準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74720" cy="2148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91440" cy="2148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48840"/>
            <a:ext cx="31089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1. ZIP と違う強み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523744"/>
            <a:ext cx="3127248" cy="18288"/>
          </a:xfrm>
          <a:prstGeom prst="rect">
            <a:avLst/>
          </a:prstGeom>
          <a:solidFill>
            <a:srgbClr val="D8F0EA"/>
          </a:solidFill>
          <a:ln w="12700">
            <a:solidFill>
              <a:srgbClr val="D8F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70048"/>
            <a:ext cx="3163824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複数ファイルをチャンク単位でまとめて圧縮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類似した小ファイル群で圧縮率が伸びやすい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2011680"/>
            <a:ext cx="3474720" cy="2148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2011680"/>
            <a:ext cx="91440" cy="2148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3108960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2. 辞書はこう考える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523744"/>
            <a:ext cx="3127248" cy="18288"/>
          </a:xfrm>
          <a:prstGeom prst="rect">
            <a:avLst/>
          </a:prstGeom>
          <a:solidFill>
            <a:srgbClr val="FCE7C2"/>
          </a:solidFill>
          <a:ln w="12700">
            <a:solidFill>
              <a:srgbClr val="FCE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670048"/>
            <a:ext cx="3163824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小さくて似たテキスト系データで効きやすい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似たサンプルから train-dict で作る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2011680"/>
            <a:ext cx="3456432" cy="2148840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D8D0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10144" y="2011680"/>
            <a:ext cx="91440" cy="2148840"/>
          </a:xfrm>
          <a:prstGeom prst="rect">
            <a:avLst/>
          </a:prstGeom>
          <a:solidFill>
            <a:srgbClr val="19486A"/>
          </a:solidFill>
          <a:ln w="127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2148840"/>
            <a:ext cx="3090672" cy="32004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Yu Gothic UI"/>
              </a:rPr>
              <a:t>3. 実運用のコツ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11312" y="2523744"/>
            <a:ext cx="3108960" cy="18288"/>
          </a:xfrm>
          <a:prstGeom prst="rect">
            <a:avLst/>
          </a:prstGeom>
          <a:solidFill>
            <a:srgbClr val="DDEAF5"/>
          </a:solidFill>
          <a:ln w="12700">
            <a:solidFill>
              <a:srgbClr val="DDE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670048"/>
            <a:ext cx="3145536" cy="1371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まず辞書なしで試す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5B6472"/>
                </a:solidFill>
                <a:latin typeface="Yu Gothic UI"/>
              </a:rPr>
              <a:t>• 低メモリ環境では --threads 1 を基本線にする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709160"/>
            <a:ext cx="10716768" cy="1078992"/>
          </a:xfrm>
          <a:prstGeom prst="roundRect">
            <a:avLst/>
          </a:prstGeom>
          <a:solidFill>
            <a:srgbClr val="FFFCF7"/>
          </a:solidFill>
          <a:ln w="12700">
            <a:solidFill>
              <a:srgbClr val="FFFC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56048"/>
            <a:ext cx="10241280" cy="219456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ctr"/>
            <a:r>
              <a:rPr sz="1900" b="1">
                <a:solidFill>
                  <a:srgbClr val="1F2937"/>
                </a:solidFill>
                <a:latin typeface="Yu Gothic UI"/>
              </a:rPr>
              <a:t>おすすめの始め方: まずは zfold pack / verify を試し、効きそうなデータ群だけ辞書運用に進む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419088"/>
            <a:ext cx="411480" cy="201168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r"/>
            <a:r>
              <a:rPr sz="1000" b="0">
                <a:solidFill>
                  <a:srgbClr val="5B6472"/>
                </a:solidFill>
                <a:latin typeface="Yu Gothic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